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3A3A95"/>
    <a:srgbClr val="FF6F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0" autoAdjust="0"/>
  </p:normalViewPr>
  <p:slideViewPr>
    <p:cSldViewPr snapToGrid="0" showGuides="1">
      <p:cViewPr varScale="1">
        <p:scale>
          <a:sx n="106" d="100"/>
          <a:sy n="106" d="100"/>
        </p:scale>
        <p:origin x="732" y="96"/>
      </p:cViewPr>
      <p:guideLst>
        <p:guide orient="horz" pos="2160"/>
        <p:guide pos="3840"/>
        <p:guide pos="211"/>
        <p:guide pos="74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3461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1" i="0" u="none" strike="noStrike" cap="all" baseline="0" dirty="0">
                <a:effectLst/>
              </a:rPr>
              <a:t>Как часто вы чувствуете напряжение или тревогу без конкретной причины?</a:t>
            </a:r>
            <a:endParaRPr lang="ru-RU" dirty="0"/>
          </a:p>
        </c:rich>
      </c:tx>
      <c:layout>
        <c:manualLayout>
          <c:xMode val="edge"/>
          <c:yMode val="edge"/>
          <c:x val="0.1206179820205291"/>
          <c:y val="1.3200576859538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1974612718209979"/>
          <c:y val="0.41908241391818035"/>
          <c:w val="0.63409939817331162"/>
          <c:h val="0.57987710867570552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Как часто вы чувствовали себя подавленным или грустным без очевидной причины?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279-4655-A94B-15DD6485D0FB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279-4655-A94B-15DD6485D0FB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279-4655-A94B-15DD6485D0FB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9279-4655-A94B-15DD6485D0F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24%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79-4655-A94B-15DD6485D0F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279-4655-A94B-15DD6485D0F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28%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279-4655-A94B-15DD6485D0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часто</c:v>
                </c:pt>
                <c:pt idx="1">
                  <c:v>иногда</c:v>
                </c:pt>
                <c:pt idx="2">
                  <c:v>редко</c:v>
                </c:pt>
                <c:pt idx="3">
                  <c:v>никогда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>
                  <c:v>0.28000000000000003</c:v>
                </c:pt>
                <c:pt idx="1">
                  <c:v>0.4</c:v>
                </c:pt>
                <c:pt idx="2">
                  <c:v>0.22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79-4655-A94B-15DD6485D0FB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13078466581124149"/>
          <c:y val="2.23297946567321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75643402910973"/>
          <c:y val="0.42113630155260934"/>
          <c:w val="0.59022805004896017"/>
          <c:h val="0.5696676432021708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Как часто вы чувствовали себя подавленным или грустным без очевидной причины?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8B4-45C4-A8F3-4B4E35E412E2}"/>
              </c:ext>
            </c:extLst>
          </c:dPt>
          <c:dPt>
            <c:idx val="1"/>
            <c:bubble3D val="0"/>
            <c:spPr>
              <a:solidFill>
                <a:schemeClr val="accent5">
                  <a:shade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8B4-45C4-A8F3-4B4E35E412E2}"/>
              </c:ext>
            </c:extLst>
          </c:dPt>
          <c:dPt>
            <c:idx val="2"/>
            <c:bubble3D val="0"/>
            <c:spPr>
              <a:solidFill>
                <a:schemeClr val="accent5">
                  <a:tint val="86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8B4-45C4-A8F3-4B4E35E412E2}"/>
              </c:ext>
            </c:extLst>
          </c:dPt>
          <c:dPt>
            <c:idx val="3"/>
            <c:bubble3D val="0"/>
            <c:spPr>
              <a:solidFill>
                <a:schemeClr val="accent5">
                  <a:tint val="58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8B4-45C4-A8F3-4B4E35E412E2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fld id="{FED257D3-9E6D-4B8D-8CC0-7D32B2690F40}" type="VALUE">
                      <a:rPr lang="en-US"/>
                      <a:pPr/>
                      <a:t>[ЗНАЧЕНИЕ]</a:t>
                    </a:fld>
                    <a:endParaRPr lang="ru-RU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8B4-45C4-A8F3-4B4E35E412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4"/>
                <c:pt idx="0">
                  <c:v>часто</c:v>
                </c:pt>
                <c:pt idx="1">
                  <c:v>иногда</c:v>
                </c:pt>
                <c:pt idx="2">
                  <c:v>редко</c:v>
                </c:pt>
                <c:pt idx="3">
                  <c:v>никогда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>
                  <c:v>0.28000000000000003</c:v>
                </c:pt>
                <c:pt idx="1">
                  <c:v>0.4</c:v>
                </c:pt>
                <c:pt idx="2">
                  <c:v>0.22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B4-45C4-A8F3-4B4E35E412E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5226DFD-7B12-33B0-1C6C-A7FE9744F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33529B-5C43-F028-6F5E-FE220F46FD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CF6C3-3B26-4602-A1D4-7D0ED8E735B8}" type="datetimeFigureOut">
              <a:rPr lang="ru-RU" smtClean="0"/>
              <a:t>16.06.2026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749496-3173-DD6C-8853-C12652A63A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E76C52-B8A1-61B1-8694-E8321CD3A1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03A77-E50A-4DAF-B593-1EF627EE7A8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114238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02C69-8DE2-4037-9273-B483969A225B}" type="datetimeFigureOut">
              <a:rPr lang="ru-RU" smtClean="0"/>
              <a:t>16.06.2026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97237-9A32-443D-ADDA-6790E021DD4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547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97237-9A32-443D-ADDA-6790E021DD46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90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97237-9A32-443D-ADDA-6790E021DD46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910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61A02-62D8-57FF-0F63-7B6CB55F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AC96F6-93C0-4375-B7C7-787538BB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396710-DDF3-C97C-C39D-92E7769D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846C2-16E4-48DF-A0F3-6554C1CCFA10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096D0-DEA8-8FC9-6FC8-BC3DDB4C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1FF5D6-3E56-FD96-3411-82E10F4F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7592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008BDD-BE9D-1AE0-66D3-F15AF1D9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D551C6-E6EE-4039-BCAC-E7FD19FA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A552DB-8FAB-EA30-0D19-0102EBAD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91B4C-BD50-48AD-AB40-827EEA5023B4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2C0189F-DBDC-6797-C2D3-E0E482D8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01AB3E-080F-4801-0992-19F4AF0C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4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962B9-3609-E246-0126-8D9A139A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916762-F11A-D409-4B96-BDEDE640C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D5AD02-A644-6DD9-8422-78D81060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510A6-1F72-4E7E-B252-52FDC2B6EA8A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63CA4A-1770-B7CA-0DF8-3A2A4779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E08397-7575-E620-E945-2624863D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2913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0C298-1C9B-2360-DE7A-78259051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019CF2-959D-BF78-6E82-F794E00B98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8F1DE9-8CA4-5FC6-29D1-B72D1D5DF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F0E42F-592E-5C7F-2D2F-540502A9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C6F40-A7F1-495C-AEEC-50FAE4092135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0473E7-F4E7-3918-D64A-ABBFDEFE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A72453-35C2-2395-9ED6-F89D9F6E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95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A8617-3CF6-02A3-8009-BA4DF8E9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B9A1AD-F569-BF99-33C3-68E9403F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68BCD6-FCD1-0597-CA64-95E8A0893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3F3DDED-03E2-6F3D-1E96-FFD4146BD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B8F95F-3968-EDC0-DA8F-748D5B8DD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73A54EA-4CE6-3867-4189-21507BED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1067-761F-4239-9025-4C060066BB29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765D3B-D879-CE58-587C-BB9C4BFDB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FF8B4A1-6E57-1556-E528-7BFEA919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749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78F3C-787D-2644-066F-10390279F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C3654C-5C7C-448E-DCB4-7CFBA4143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39CB9-9715-4637-A2D1-25395F64EF66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B784A1-0857-7B19-06E8-DD9E46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E8701E-B504-F810-34A8-64A044FEB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987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C83353-73E3-A0C0-7D7D-6431D9E76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BBC78-889D-4682-A789-DAE2AE10FFB4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08036E-4085-91CC-38F6-70A6FCC98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A296D3-76D5-AE5B-223C-E1EA51F3D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215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81CF4-365C-87A3-1A48-7B020ECB8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4FF640-D8CB-41D3-661F-112B885A4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7B20B9-E197-83B2-28BE-CAD68D249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2BD2B1-28EF-6121-1128-DE552ED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D9AD-2D88-46BA-89E3-03DFC5B96BB0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7B5086-0C0F-F0F0-E67C-DA8F78EF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D95B2-49D9-1DE6-69A3-32FBEF0E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7629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90C48-8132-F025-790C-55E82FEE6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ABD747-9E90-40E4-90FC-CD466C717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4DFFB5-3ACB-EA96-8968-E9E6E0627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30605E-1D41-AF86-519E-9C90FB74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A38F-5ECD-4502-9FE1-D737DB87ACFA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224591-EB1C-590F-0704-EADDF4CF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5E91B3-87F2-9F92-6F73-42A33085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67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13497-963C-0019-CE8B-736277D9F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0674B2-C55D-9B87-DC42-DD3C25431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D6F8F-87FC-120B-0267-00E33AE6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8C00-9DAD-4B9E-B467-FDAC9C874762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7301A-274F-5DE7-2F2B-030BB5C3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08C153-D885-E5E8-9DCB-8516543C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2591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78C285A-EE87-01C2-C80E-B57A6E599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8A9A0F-1089-39FB-E4B2-6CAEEF2806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8715D1-3ABF-F65D-0E6A-CA209EDD0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155-C02B-4E23-A3A2-38D596AA0380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BE47F-BA2C-9867-50F8-BA6C53EBD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6275BA-72E2-7B8F-06C9-37C629B88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75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1583D-7877-6E33-572A-2C6517D83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F0B7BE-837F-57C2-DFDD-350042AF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D61B4-693C-4042-2C0F-4BADA0D18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B6FD9-0481-48E1-AAF2-037F64EC94C6}" type="datetime1">
              <a:rPr lang="ru-RU" smtClean="0"/>
              <a:t>16.06.2026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E7D339-895B-6CD5-8318-B713FC5DC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27380B-29FA-064E-41A8-F986CE0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E2CC4F-E372-4903-AEE1-D93856D9C9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61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3D3D992F-6566-C37C-CF57-2E91AAA660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8" t="17417" r="23093" b="20852"/>
          <a:stretch>
            <a:fillRect/>
          </a:stretch>
        </p:blipFill>
        <p:spPr bwMode="auto">
          <a:xfrm>
            <a:off x="334963" y="46466"/>
            <a:ext cx="822239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631091-028B-BADA-D73B-1F64DFCA1DF4}"/>
              </a:ext>
            </a:extLst>
          </p:cNvPr>
          <p:cNvSpPr txBox="1"/>
          <p:nvPr/>
        </p:nvSpPr>
        <p:spPr>
          <a:xfrm>
            <a:off x="1157202" y="55550"/>
            <a:ext cx="59647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r>
              <a:rPr lang="ru-RU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</a:t>
            </a:r>
          </a:p>
          <a:p>
            <a:r>
              <a:rPr lang="ru-RU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города Москвы</a:t>
            </a:r>
          </a:p>
          <a:p>
            <a:r>
              <a:rPr lang="ru-RU" sz="1400" dirty="0">
                <a:solidFill>
                  <a:srgbClr val="7030A0"/>
                </a:solidFill>
                <a:latin typeface="Arial Black" panose="020B0A04020102020204" pitchFamily="34" charset="0"/>
              </a:rPr>
              <a:t>«</a:t>
            </a:r>
            <a:r>
              <a:rPr lang="ru-RU" sz="1400" b="1" dirty="0">
                <a:solidFill>
                  <a:srgbClr val="7030A0"/>
                </a:solidFill>
                <a:latin typeface="Arial Black" panose="020B0A04020102020204" pitchFamily="34" charset="0"/>
              </a:rPr>
              <a:t>Колледж малого бизнеса № 4</a:t>
            </a:r>
            <a:r>
              <a:rPr lang="ru-RU" sz="1400" dirty="0">
                <a:solidFill>
                  <a:srgbClr val="7030A0"/>
                </a:solidFill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4E874-232B-1D14-1BA8-0E8ED00827FF}"/>
              </a:ext>
            </a:extLst>
          </p:cNvPr>
          <p:cNvSpPr txBox="1"/>
          <p:nvPr/>
        </p:nvSpPr>
        <p:spPr>
          <a:xfrm>
            <a:off x="2295163" y="2029927"/>
            <a:ext cx="7601673" cy="646331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</a:rPr>
              <a:t>ВЫПУСКНАЯ КВАЛИФИКАЦИОННАЯ РАБОТА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теме: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F8187-3C20-C68D-DD13-A88685394AE6}"/>
              </a:ext>
            </a:extLst>
          </p:cNvPr>
          <p:cNvSpPr txBox="1"/>
          <p:nvPr/>
        </p:nvSpPr>
        <p:spPr>
          <a:xfrm>
            <a:off x="334962" y="4881468"/>
            <a:ext cx="7929361" cy="1323439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Специальность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: 09.02.07 Информационные системы и программирование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Квалификация: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Специалист по информационным системам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Курс </a:t>
            </a: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, группа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ИПС-31.23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Обучающийся: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Жигулина Елизавета Владимировна</a:t>
            </a:r>
          </a:p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sz="1600" u="sng" dirty="0">
                <a:latin typeface="Arial" panose="020B0604020202020204" pitchFamily="34" charset="0"/>
                <a:cs typeface="Arial" panose="020B0604020202020204" pitchFamily="34" charset="0"/>
              </a:rPr>
              <a:t>Рыбаков Александр Сергеевич</a:t>
            </a:r>
            <a:endParaRPr lang="ru-RU" sz="1600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9127D-D5C9-CA95-EF0A-DECD30E84850}"/>
              </a:ext>
            </a:extLst>
          </p:cNvPr>
          <p:cNvSpPr txBox="1"/>
          <p:nvPr/>
        </p:nvSpPr>
        <p:spPr>
          <a:xfrm>
            <a:off x="334961" y="2686073"/>
            <a:ext cx="11522075" cy="1180699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«</a:t>
            </a:r>
            <a:r>
              <a:rPr lang="ru-RU" sz="2400" b="1" dirty="0">
                <a:effectLst/>
                <a:latin typeface="Arial Black" panose="020B0A04020102020204" pitchFamily="34" charset="0"/>
                <a:ea typeface="Aptos" panose="020B0004020202020204" pitchFamily="34" charset="0"/>
              </a:rPr>
              <a:t>Разработка интегрированной веб-платформы для психологического просвещения, самодиагностики с визуализацией результатов и инструментов саморазвития</a:t>
            </a:r>
            <a:r>
              <a:rPr lang="ru-RU" sz="2400" dirty="0">
                <a:latin typeface="Arial Black" panose="020B0A04020102020204" pitchFamily="34" charset="0"/>
              </a:rPr>
              <a:t>»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6E51F5-BBE8-FE8B-0F5C-F2BC27C5C57D}"/>
              </a:ext>
            </a:extLst>
          </p:cNvPr>
          <p:cNvSpPr txBox="1"/>
          <p:nvPr/>
        </p:nvSpPr>
        <p:spPr>
          <a:xfrm>
            <a:off x="4578750" y="6483526"/>
            <a:ext cx="3034495" cy="318924"/>
          </a:xfrm>
          <a:prstGeom prst="rect">
            <a:avLst/>
          </a:prstGeom>
          <a:noFill/>
        </p:spPr>
        <p:txBody>
          <a:bodyPr wrap="square" lIns="0" tIns="36000" rIns="0" bIns="36000" anchor="ctr">
            <a:spAutoFit/>
          </a:bodyPr>
          <a:lstStyle/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Москва, 2026</a:t>
            </a: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BBD7AEB9-0823-6148-E3FD-AB5F384DDDA2}"/>
              </a:ext>
            </a:extLst>
          </p:cNvPr>
          <p:cNvSpPr/>
          <p:nvPr/>
        </p:nvSpPr>
        <p:spPr>
          <a:xfrm>
            <a:off x="334963" y="1000574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622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84603F7-0122-5A9E-48E0-8AE321ADA366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FE726-9925-A504-979F-BF45D8C05085}"/>
              </a:ext>
            </a:extLst>
          </p:cNvPr>
          <p:cNvSpPr txBox="1"/>
          <p:nvPr/>
        </p:nvSpPr>
        <p:spPr>
          <a:xfrm>
            <a:off x="334963" y="175956"/>
            <a:ext cx="5964770" cy="380480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sz="2000" b="1" dirty="0">
                <a:solidFill>
                  <a:srgbClr val="7030A0"/>
                </a:solidFill>
                <a:latin typeface="Bahnschrift SemiBold" panose="020B0502040204020203" pitchFamily="34" charset="0"/>
                <a:cs typeface="Arial" panose="020B0604020202020204" pitchFamily="34" charset="0"/>
              </a:rPr>
              <a:t>Цель и задачи ВКР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738929-977D-3D74-E7F2-E19C8F76A4F5}"/>
              </a:ext>
            </a:extLst>
          </p:cNvPr>
          <p:cNvSpPr txBox="1"/>
          <p:nvPr/>
        </p:nvSpPr>
        <p:spPr>
          <a:xfrm>
            <a:off x="538695" y="2205241"/>
            <a:ext cx="1152207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effectLst/>
                <a:latin typeface="Bahnschrift" panose="020B0502040204020203" pitchFamily="34" charset="0"/>
              </a:rPr>
              <a:t>Задачи:</a:t>
            </a:r>
            <a:endParaRPr lang="ru-RU" sz="2400" i="0" dirty="0">
              <a:effectLst/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Проанализировать предметную область и аналоги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Сформулировать требования к системе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Спроектировать архитектуру и БД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Реализовать функциональные модули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Провести тестирование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400" i="0" dirty="0">
                <a:effectLst/>
                <a:latin typeface="Bahnschrift" panose="020B0502040204020203" pitchFamily="34" charset="0"/>
              </a:rPr>
              <a:t>Выполнить экономическое обоснование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A1027F8-12CC-5ED7-53AD-8BEA8E1F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E3B187-1173-634D-DC04-82FA6E21A6FD}"/>
              </a:ext>
            </a:extLst>
          </p:cNvPr>
          <p:cNvSpPr txBox="1"/>
          <p:nvPr/>
        </p:nvSpPr>
        <p:spPr>
          <a:xfrm>
            <a:off x="538695" y="1113637"/>
            <a:ext cx="11158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  <a:cs typeface="Arial" panose="020B0604020202020204" pitchFamily="34" charset="0"/>
              </a:rPr>
              <a:t>Цель: </a:t>
            </a:r>
            <a:r>
              <a:rPr lang="ru-RU" sz="2400" dirty="0">
                <a:latin typeface="Bahnschrift" panose="020B0502040204020203" pitchFamily="34" charset="0"/>
                <a:cs typeface="Arial" panose="020B0604020202020204" pitchFamily="34" charset="0"/>
              </a:rPr>
              <a:t>Создать бесплатную платформу для психологических тестов, статей и дневника в одном месте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78485-26C8-57F5-C0D7-1FC09F3CCB7C}"/>
              </a:ext>
            </a:extLst>
          </p:cNvPr>
          <p:cNvSpPr txBox="1"/>
          <p:nvPr/>
        </p:nvSpPr>
        <p:spPr>
          <a:xfrm>
            <a:off x="538695" y="5328864"/>
            <a:ext cx="85504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Объект: </a:t>
            </a:r>
            <a:r>
              <a:rPr lang="ru-RU" sz="2400" dirty="0">
                <a:latin typeface="Bahnschrift" panose="020B0502040204020203" pitchFamily="34" charset="0"/>
              </a:rPr>
              <a:t>процесс психологического онлайн-тестирования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Предмет: </a:t>
            </a:r>
            <a:r>
              <a:rPr lang="ru-RU" sz="2400" dirty="0">
                <a:latin typeface="Bahnschrift" panose="020B0502040204020203" pitchFamily="34" charset="0"/>
              </a:rPr>
              <a:t>методы автоматизации самодиагностики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9EB5182-3F38-BD5C-6182-B135449EF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256" y="2497593"/>
            <a:ext cx="292608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6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DE00-AAE5-D0E0-685B-32DFE8FC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3DBF0DBC-BA19-6D3F-3966-5D550A52B38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C7175-E7B1-18ED-B3CB-2B2A3352982A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Актуальность и проблема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A1AC3-52EB-CCC1-A6B1-E088BBF75570}"/>
              </a:ext>
            </a:extLst>
          </p:cNvPr>
          <p:cNvSpPr txBox="1"/>
          <p:nvPr/>
        </p:nvSpPr>
        <p:spPr>
          <a:xfrm>
            <a:off x="334963" y="923836"/>
            <a:ext cx="9532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Проблема: </a:t>
            </a:r>
            <a:r>
              <a:rPr lang="ru-RU" sz="2400" dirty="0">
                <a:latin typeface="Bahnschrift" panose="020B0502040204020203" pitchFamily="34" charset="0"/>
              </a:rPr>
              <a:t>Молодёжь испытывает психологический дискомфорт, но не обращается к специалистам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BE16C0-69CE-1701-FE63-3AB0E7BE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3</a:t>
            </a:fld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DCB3A66-470B-BD55-9356-EB2B7E7C68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098558"/>
              </p:ext>
            </p:extLst>
          </p:nvPr>
        </p:nvGraphicFramePr>
        <p:xfrm>
          <a:off x="8405545" y="2490883"/>
          <a:ext cx="3451492" cy="37742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02500A33-4062-98C0-1699-986743EEBB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821179"/>
              </p:ext>
            </p:extLst>
          </p:nvPr>
        </p:nvGraphicFramePr>
        <p:xfrm>
          <a:off x="334963" y="2490885"/>
          <a:ext cx="3642753" cy="3774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FC87DA8-8817-9ECA-E40B-57EC2AC78FA9}"/>
              </a:ext>
            </a:extLst>
          </p:cNvPr>
          <p:cNvSpPr txBox="1"/>
          <p:nvPr/>
        </p:nvSpPr>
        <p:spPr>
          <a:xfrm>
            <a:off x="337791" y="1794825"/>
            <a:ext cx="106956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Ограничения аналогов: платные, сложные, нет комплексного подхода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B8A7C-95A6-2B37-9568-5E4AF62401E7}"/>
              </a:ext>
            </a:extLst>
          </p:cNvPr>
          <p:cNvSpPr txBox="1"/>
          <p:nvPr/>
        </p:nvSpPr>
        <p:spPr>
          <a:xfrm>
            <a:off x="3317348" y="5557226"/>
            <a:ext cx="33953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Light" panose="020B0502040204020203" pitchFamily="34" charset="0"/>
              </a:rPr>
              <a:t>68% — подавленность</a:t>
            </a:r>
          </a:p>
          <a:p>
            <a:r>
              <a:rPr lang="ru-RU" sz="2000" dirty="0">
                <a:latin typeface="Bahnschrift Light" panose="020B0502040204020203" pitchFamily="34" charset="0"/>
              </a:rPr>
              <a:t>без причины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1DF21-7879-9688-3E61-0E33E50ABC57}"/>
              </a:ext>
            </a:extLst>
          </p:cNvPr>
          <p:cNvSpPr txBox="1"/>
          <p:nvPr/>
        </p:nvSpPr>
        <p:spPr>
          <a:xfrm>
            <a:off x="5798007" y="5557226"/>
            <a:ext cx="33953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latin typeface="Bahnschrift Light" panose="020B0502040204020203" pitchFamily="34" charset="0"/>
              </a:rPr>
              <a:t>62% — тревога</a:t>
            </a:r>
          </a:p>
          <a:p>
            <a:pPr algn="r"/>
            <a:r>
              <a:rPr lang="ru-RU" sz="2000" dirty="0">
                <a:latin typeface="Bahnschrift Light" panose="020B0502040204020203" pitchFamily="34" charset="0"/>
              </a:rPr>
              <a:t>без причины</a:t>
            </a:r>
          </a:p>
        </p:txBody>
      </p:sp>
    </p:spTree>
    <p:extLst>
      <p:ext uri="{BB962C8B-B14F-4D97-AF65-F5344CB8AC3E}">
        <p14:creationId xmlns:p14="http://schemas.microsoft.com/office/powerpoint/2010/main" val="60924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0159-FE24-B5BE-2BC3-36E19BDB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09E43C67-43D6-C9C5-D89A-2FA06BB6B5D5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C61CE-3189-F43F-F5D6-8BA1FF5AF484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Анализ предметной области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69351-5D65-6139-6AC4-E2F3B3D178C4}"/>
              </a:ext>
            </a:extLst>
          </p:cNvPr>
          <p:cNvSpPr txBox="1"/>
          <p:nvPr/>
        </p:nvSpPr>
        <p:spPr>
          <a:xfrm>
            <a:off x="425498" y="1057857"/>
            <a:ext cx="115220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Участники процесса: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b="1" dirty="0">
                <a:latin typeface="Bahnschrift" panose="020B0502040204020203" pitchFamily="34" charset="0"/>
              </a:rPr>
              <a:t>Пользователь</a:t>
            </a:r>
            <a:r>
              <a:rPr lang="ru-RU" sz="2400" dirty="0">
                <a:latin typeface="Bahnschrift" panose="020B0502040204020203" pitchFamily="34" charset="0"/>
              </a:rPr>
              <a:t>: тесты, статьи, дневник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Куратор</a:t>
            </a:r>
            <a:r>
              <a:rPr lang="ru-RU" sz="2400" dirty="0">
                <a:latin typeface="Bahnschrift" panose="020B0502040204020203" pitchFamily="34" charset="0"/>
              </a:rPr>
              <a:t>: создаёт тесты и статьи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Администратор</a:t>
            </a:r>
            <a:r>
              <a:rPr lang="ru-RU" sz="2400" dirty="0">
                <a:latin typeface="Bahnschrift" panose="020B0502040204020203" pitchFamily="34" charset="0"/>
              </a:rPr>
              <a:t>: управляет пользователями и контентом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Основные данные: результаты тестов, статьи с тегами, дневник настроения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Основные сложности: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4 типа вопросов: одиночный, множественный, шкала, текст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Хранение чувствительных психологических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Разграничение прав доступа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1CA6D1-30D8-EF10-7876-03F6785E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5BD95-ADD7-0109-4BC8-6B6E669A5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44342BF-6FC0-09B4-7897-06A84617C48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ECA8C-F878-5DC2-8792-91589247EF6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Обзор аналогов и выбор подхода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026431-1AFC-0C35-AC2C-E6402DFEE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5</a:t>
            </a:fld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55C04FE7-42C9-F188-39CB-CDBFCE6B4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171960"/>
              </p:ext>
            </p:extLst>
          </p:nvPr>
        </p:nvGraphicFramePr>
        <p:xfrm>
          <a:off x="811730" y="914400"/>
          <a:ext cx="10568539" cy="293521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723106361"/>
                    </a:ext>
                  </a:extLst>
                </a:gridCol>
                <a:gridCol w="2098307">
                  <a:extLst>
                    <a:ext uri="{9D8B030D-6E8A-4147-A177-3AD203B41FA5}">
                      <a16:colId xmlns:a16="http://schemas.microsoft.com/office/drawing/2014/main" val="311395091"/>
                    </a:ext>
                  </a:extLst>
                </a:gridCol>
                <a:gridCol w="2107933">
                  <a:extLst>
                    <a:ext uri="{9D8B030D-6E8A-4147-A177-3AD203B41FA5}">
                      <a16:colId xmlns:a16="http://schemas.microsoft.com/office/drawing/2014/main" val="4043287534"/>
                    </a:ext>
                  </a:extLst>
                </a:gridCol>
                <a:gridCol w="2117557">
                  <a:extLst>
                    <a:ext uri="{9D8B030D-6E8A-4147-A177-3AD203B41FA5}">
                      <a16:colId xmlns:a16="http://schemas.microsoft.com/office/drawing/2014/main" val="510333108"/>
                    </a:ext>
                  </a:extLst>
                </a:gridCol>
                <a:gridCol w="2050182">
                  <a:extLst>
                    <a:ext uri="{9D8B030D-6E8A-4147-A177-3AD203B41FA5}">
                      <a16:colId xmlns:a16="http://schemas.microsoft.com/office/drawing/2014/main" val="555052070"/>
                    </a:ext>
                  </a:extLst>
                </a:gridCol>
              </a:tblGrid>
              <a:tr h="4401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PsycTESTS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Эффектон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Headspace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Psytestix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0336354"/>
                  </a:ext>
                </a:extLst>
              </a:tr>
              <a:tr h="43871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Просвещение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b="1" kern="100" dirty="0">
                        <a:solidFill>
                          <a:srgbClr val="00B05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7060254"/>
                  </a:ext>
                </a:extLst>
              </a:tr>
              <a:tr h="4316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Диагностика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9668869"/>
                  </a:ext>
                </a:extLst>
              </a:tr>
              <a:tr h="76143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Саморазвитие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FF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1183997"/>
                  </a:ext>
                </a:extLst>
              </a:tr>
              <a:tr h="4316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Бесплатно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9732382"/>
                  </a:ext>
                </a:extLst>
              </a:tr>
              <a:tr h="4316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ФЗ-152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❌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✔</a:t>
                      </a:r>
                      <a:endParaRPr lang="ru-RU" sz="24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9567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5EE9F05-DB62-DEAE-F3B7-B23D6C56E514}"/>
              </a:ext>
            </a:extLst>
          </p:cNvPr>
          <p:cNvSpPr txBox="1"/>
          <p:nvPr/>
        </p:nvSpPr>
        <p:spPr>
          <a:xfrm>
            <a:off x="811730" y="4271985"/>
            <a:ext cx="102821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Почему аналоги не закрывают задачу : </a:t>
            </a:r>
            <a:r>
              <a:rPr lang="ru-RU" sz="2400" dirty="0">
                <a:latin typeface="Bahnschrift" panose="020B0502040204020203" pitchFamily="34" charset="0"/>
              </a:rPr>
              <a:t>нет интеграции, дорого, сложно для массового пользователя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39A56-CFB2-239C-004A-42B6F3A844B6}"/>
              </a:ext>
            </a:extLst>
          </p:cNvPr>
          <p:cNvSpPr txBox="1"/>
          <p:nvPr/>
        </p:nvSpPr>
        <p:spPr>
          <a:xfrm>
            <a:off x="811729" y="5297269"/>
            <a:ext cx="104417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Собственная разработка - из-за конкретных ограничений аналогов</a:t>
            </a:r>
          </a:p>
        </p:txBody>
      </p:sp>
    </p:spTree>
    <p:extLst>
      <p:ext uri="{BB962C8B-B14F-4D97-AF65-F5344CB8AC3E}">
        <p14:creationId xmlns:p14="http://schemas.microsoft.com/office/powerpoint/2010/main" val="2106082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DB49E-84FF-4B54-B439-DA4827063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73C9FF3A-9685-6110-1E55-0BC14772F13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EC8B2-7636-CE18-0AC9-1E2D32D5D0A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Архитектура решения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A699CF-D1CA-B9CE-BB48-D3F8066A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3B68E3E-1D53-A5F6-DA05-B094C0B2B3D7}"/>
              </a:ext>
            </a:extLst>
          </p:cNvPr>
          <p:cNvSpPr/>
          <p:nvPr/>
        </p:nvSpPr>
        <p:spPr>
          <a:xfrm>
            <a:off x="5363452" y="858710"/>
            <a:ext cx="4906978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УРОВЕНЬ ПРЕДСТАВЛЕНИЯ</a:t>
            </a:r>
          </a:p>
          <a:p>
            <a:pPr algn="ctr"/>
            <a:r>
              <a:rPr lang="en-US" sz="2400" dirty="0">
                <a:latin typeface="Bahnschrift" panose="020B0502040204020203" pitchFamily="34" charset="0"/>
              </a:rPr>
              <a:t>HTML, CSS, Bootstrap 5, JavaScript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91A2521-18EE-AA14-F5A3-FDD7FEF31159}"/>
              </a:ext>
            </a:extLst>
          </p:cNvPr>
          <p:cNvSpPr/>
          <p:nvPr/>
        </p:nvSpPr>
        <p:spPr>
          <a:xfrm>
            <a:off x="5363453" y="2850880"/>
            <a:ext cx="4906977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УРОВЕНЬ БИЗНЕС-ЛОГИКИ</a:t>
            </a:r>
          </a:p>
          <a:p>
            <a:pPr algn="ctr"/>
            <a:r>
              <a:rPr lang="en-US" sz="2400" dirty="0">
                <a:latin typeface="Bahnschrift" panose="020B0502040204020203" pitchFamily="34" charset="0"/>
              </a:rPr>
              <a:t>Python + Django 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AE249FF-97E7-1211-E4A6-D749746B7D24}"/>
              </a:ext>
            </a:extLst>
          </p:cNvPr>
          <p:cNvSpPr/>
          <p:nvPr/>
        </p:nvSpPr>
        <p:spPr>
          <a:xfrm>
            <a:off x="5363453" y="4853474"/>
            <a:ext cx="4906977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УРОВЕНЬ ХРАНЕНИЯ ДАННЫХ</a:t>
            </a:r>
          </a:p>
          <a:p>
            <a:pPr algn="ctr"/>
            <a:r>
              <a:rPr lang="en-US" sz="2400" dirty="0">
                <a:latin typeface="Bahnschrift" panose="020B0502040204020203" pitchFamily="34" charset="0"/>
              </a:rPr>
              <a:t>SQLite 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27965EB-B38A-E0DC-0AA7-5023DACC2263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>
            <a:off x="7816941" y="2424960"/>
            <a:ext cx="1" cy="42592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817ED00-0DD0-B7E7-A161-4692164C7876}"/>
              </a:ext>
            </a:extLst>
          </p:cNvPr>
          <p:cNvCxnSpPr/>
          <p:nvPr/>
        </p:nvCxnSpPr>
        <p:spPr>
          <a:xfrm>
            <a:off x="7815461" y="4417132"/>
            <a:ext cx="0" cy="425920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4D1966-A071-BC40-439D-2BE3F6635962}"/>
              </a:ext>
            </a:extLst>
          </p:cNvPr>
          <p:cNvSpPr txBox="1"/>
          <p:nvPr/>
        </p:nvSpPr>
        <p:spPr>
          <a:xfrm>
            <a:off x="281500" y="4216110"/>
            <a:ext cx="50789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Почему выбрана такая структура: облегчает сопровождение, тестирование и дальнейшее расширение проекта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9E5F2C-D2C2-11AC-F1B0-AB3C44ACE524}"/>
              </a:ext>
            </a:extLst>
          </p:cNvPr>
          <p:cNvSpPr txBox="1"/>
          <p:nvPr/>
        </p:nvSpPr>
        <p:spPr>
          <a:xfrm>
            <a:off x="356162" y="2074039"/>
            <a:ext cx="50058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Трёхуровневая архитектура клиент-сервер:</a:t>
            </a:r>
          </a:p>
        </p:txBody>
      </p:sp>
    </p:spTree>
    <p:extLst>
      <p:ext uri="{BB962C8B-B14F-4D97-AF65-F5344CB8AC3E}">
        <p14:creationId xmlns:p14="http://schemas.microsoft.com/office/powerpoint/2010/main" val="8563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815A-1678-F1DA-E79A-A2C457C9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D9BF9691-EC40-26D9-E6DE-FA93B3C6E763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75066-AE70-4CD4-1AB9-7D1BDC7D5E23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Используемые технологии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6FAF2-7692-1872-7B6C-34C01260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7</a:t>
            </a:fld>
            <a:endParaRPr lang="ru-RU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FC27983-9E46-450B-7A83-684134DAC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501541"/>
              </p:ext>
            </p:extLst>
          </p:nvPr>
        </p:nvGraphicFramePr>
        <p:xfrm>
          <a:off x="613042" y="947130"/>
          <a:ext cx="10795267" cy="3558137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2355080">
                  <a:extLst>
                    <a:ext uri="{9D8B030D-6E8A-4147-A177-3AD203B41FA5}">
                      <a16:colId xmlns:a16="http://schemas.microsoft.com/office/drawing/2014/main" val="1496896884"/>
                    </a:ext>
                  </a:extLst>
                </a:gridCol>
                <a:gridCol w="2355080">
                  <a:extLst>
                    <a:ext uri="{9D8B030D-6E8A-4147-A177-3AD203B41FA5}">
                      <a16:colId xmlns:a16="http://schemas.microsoft.com/office/drawing/2014/main" val="1336142715"/>
                    </a:ext>
                  </a:extLst>
                </a:gridCol>
                <a:gridCol w="6085107">
                  <a:extLst>
                    <a:ext uri="{9D8B030D-6E8A-4147-A177-3AD203B41FA5}">
                      <a16:colId xmlns:a16="http://schemas.microsoft.com/office/drawing/2014/main" val="3773968166"/>
                    </a:ext>
                  </a:extLst>
                </a:gridCol>
              </a:tblGrid>
              <a:tr h="301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Компонент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Технология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Зачем выбрали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9856178"/>
                  </a:ext>
                </a:extLst>
              </a:tr>
              <a:tr h="5491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Язык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Python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простой синтаксис, богатая экосистема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1493257"/>
                  </a:ext>
                </a:extLst>
              </a:tr>
              <a:tr h="590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Фреймворк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Django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админ-панель, аутентификация, ORM «из коробки»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4247468"/>
                  </a:ext>
                </a:extLst>
              </a:tr>
              <a:tr h="5499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СУБД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SQLite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не требует установки, один файл, переносимость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1125852"/>
                  </a:ext>
                </a:extLst>
              </a:tr>
              <a:tr h="590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 err="1">
                          <a:effectLst/>
                          <a:latin typeface="Bahnschrift" panose="020B0502040204020203" pitchFamily="34" charset="0"/>
                        </a:rPr>
                        <a:t>Фронтенд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Bootstrap 5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адаптивная вёрстка, готовые компоненты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19636130"/>
                  </a:ext>
                </a:extLst>
              </a:tr>
              <a:tr h="5908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Визуализация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Chart.js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лепестковые диаграммы в браузере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2778916"/>
                  </a:ext>
                </a:extLst>
              </a:tr>
              <a:tr h="3846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Контроль версий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>
                          <a:effectLst/>
                          <a:latin typeface="Bahnschrift" panose="020B0502040204020203" pitchFamily="34" charset="0"/>
                        </a:rPr>
                        <a:t>Git + GitHub</a:t>
                      </a:r>
                      <a:endParaRPr lang="ru-RU" sz="1800" kern="10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800" kern="100" dirty="0">
                          <a:effectLst/>
                          <a:latin typeface="Bahnschrift" panose="020B0502040204020203" pitchFamily="34" charset="0"/>
                        </a:rPr>
                        <a:t>управление кодом</a:t>
                      </a:r>
                      <a:endParaRPr lang="ru-RU" sz="1800" kern="100" dirty="0">
                        <a:solidFill>
                          <a:srgbClr val="000000"/>
                        </a:solidFill>
                        <a:effectLst/>
                        <a:latin typeface="Bahnschrift" panose="020B0502040204020203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19373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2268034-022B-8846-56DE-2A56B6F6E7AE}"/>
              </a:ext>
            </a:extLst>
          </p:cNvPr>
          <p:cNvSpPr txBox="1"/>
          <p:nvPr/>
        </p:nvSpPr>
        <p:spPr>
          <a:xfrm>
            <a:off x="613042" y="4930981"/>
            <a:ext cx="10965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Выбор обоснован сравнением с альтернативами (</a:t>
            </a:r>
            <a:r>
              <a:rPr lang="en-US" sz="2400" dirty="0">
                <a:latin typeface="Bahnschrift" panose="020B0502040204020203" pitchFamily="34" charset="0"/>
              </a:rPr>
              <a:t>Python </a:t>
            </a:r>
            <a:r>
              <a:rPr lang="en-US" sz="2400" dirty="0">
                <a:latin typeface="Bahnschrift Light" panose="020B0502040204020203" pitchFamily="34" charset="0"/>
              </a:rPr>
              <a:t>vs</a:t>
            </a:r>
            <a:r>
              <a:rPr lang="en-US" sz="2400" dirty="0">
                <a:latin typeface="Bahnschrift" panose="020B0502040204020203" pitchFamily="34" charset="0"/>
              </a:rPr>
              <a:t> Java/PHP, 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en-US" sz="2400" dirty="0">
                <a:latin typeface="Bahnschrift" panose="020B0502040204020203" pitchFamily="34" charset="0"/>
              </a:rPr>
              <a:t>Django </a:t>
            </a:r>
            <a:r>
              <a:rPr lang="en-US" sz="2400" dirty="0">
                <a:latin typeface="Bahnschrift Light" panose="020B0502040204020203" pitchFamily="34" charset="0"/>
              </a:rPr>
              <a:t>vs</a:t>
            </a:r>
            <a:r>
              <a:rPr lang="en-US" sz="2400" dirty="0">
                <a:latin typeface="Bahnschrift" panose="020B0502040204020203" pitchFamily="34" charset="0"/>
              </a:rPr>
              <a:t> Flask/</a:t>
            </a:r>
            <a:r>
              <a:rPr lang="en-US" sz="2400" dirty="0" err="1">
                <a:latin typeface="Bahnschrift" panose="020B0502040204020203" pitchFamily="34" charset="0"/>
              </a:rPr>
              <a:t>FastAPI</a:t>
            </a:r>
            <a:r>
              <a:rPr lang="en-US" sz="2400" dirty="0">
                <a:latin typeface="Bahnschrift" panose="020B0502040204020203" pitchFamily="34" charset="0"/>
              </a:rPr>
              <a:t>, SQLite </a:t>
            </a:r>
            <a:r>
              <a:rPr lang="en-US" sz="2400" dirty="0">
                <a:latin typeface="Bahnschrift Light" panose="020B0502040204020203" pitchFamily="34" charset="0"/>
              </a:rPr>
              <a:t>vs</a:t>
            </a:r>
            <a:r>
              <a:rPr lang="en-US" sz="2400" dirty="0">
                <a:latin typeface="Bahnschrift" panose="020B0502040204020203" pitchFamily="34" charset="0"/>
              </a:rPr>
              <a:t> PostgreSQL)</a:t>
            </a:r>
            <a:endParaRPr lang="ru-RU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37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BA9F-35A8-D264-65E9-7A9A9031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165960F8-0DD1-A18F-3946-A300768988FA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85D4-5CB8-16B3-6F61-E4757DCDDA41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ER-</a:t>
            </a:r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диаграмма системы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0D5CE2-CF7D-4B5E-23EC-7D67CEAF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8</a:t>
            </a:fld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CEFB8A-6BA5-1D30-32CE-4A3158D9A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90" y="633890"/>
            <a:ext cx="8752069" cy="58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6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BEC4-6826-E130-F029-AD8AD952F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D8B78FD-5249-D1A4-0A8E-B3288E3BBFCD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FABA1-B313-A3E1-C233-AD8A7EE8DD6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Ключевой функционал и тестирование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DD5A3-B4C7-8D49-1A62-8F32C118F676}"/>
              </a:ext>
            </a:extLst>
          </p:cNvPr>
          <p:cNvSpPr txBox="1"/>
          <p:nvPr/>
        </p:nvSpPr>
        <p:spPr>
          <a:xfrm>
            <a:off x="334963" y="4230588"/>
            <a:ext cx="101097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Тестирование: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Функциональное: 39/39 тест-кейсов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Нагрузочное: 100 пользователей → 2,8 сек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Безопасность: хеширование паролей, CSRF-защита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UI: адаптивность под телефон, планшет, ПК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C66187-189C-08D2-90A3-2A09FC42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9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9DC4B0-0C9C-86A9-BCC5-4C56B5E65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848202"/>
            <a:ext cx="5731342" cy="33163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DF87D94-38DF-F49C-2F4F-026349A80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064" y="848204"/>
            <a:ext cx="5670221" cy="331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A090E-FF32-0AF4-E6AF-68789161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B351928D-6ED5-2A17-7CC9-DDD16A386AC7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02A5B-C63E-0B0E-2515-31BE9673BB6C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Результаты разработки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3DB36-228A-ABF1-8306-6E4A3CFB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10</a:t>
            </a:fld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5E2E8-50F6-B570-4FE1-8FF79B56EA2A}"/>
              </a:ext>
            </a:extLst>
          </p:cNvPr>
          <p:cNvSpPr txBox="1"/>
          <p:nvPr/>
        </p:nvSpPr>
        <p:spPr>
          <a:xfrm>
            <a:off x="405143" y="683124"/>
            <a:ext cx="67018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Что создано: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Веб-платформа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14 таблиц в SQLite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7 функциональных модулей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3 роли пользователей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Адаптивный интерфейс Bootstrap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Визуализация результатов Chart.js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Полная документация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30BDB-6BD8-793D-7E95-3B69E3F1AE5F}"/>
              </a:ext>
            </a:extLst>
          </p:cNvPr>
          <p:cNvSpPr txBox="1"/>
          <p:nvPr/>
        </p:nvSpPr>
        <p:spPr>
          <a:xfrm>
            <a:off x="405143" y="5039430"/>
            <a:ext cx="115220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" panose="020B0502040204020203" pitchFamily="34" charset="0"/>
              </a:rPr>
              <a:t>Цель: разработана платформа, объединяющая просвещение, диагностику и саморазвитие в едином цифровом пространстве</a:t>
            </a:r>
          </a:p>
        </p:txBody>
      </p:sp>
    </p:spTree>
    <p:extLst>
      <p:ext uri="{BB962C8B-B14F-4D97-AF65-F5344CB8AC3E}">
        <p14:creationId xmlns:p14="http://schemas.microsoft.com/office/powerpoint/2010/main" val="1784773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D0EF-7F22-FE1B-9DDD-C7492B3E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C54B2F74-E294-50E0-53D5-2B6090B94844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E6FF5-81C4-EA65-BA00-C87A6C773EEB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Практическая значимость и личный вклад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2EF07-8B32-2525-1F83-0C943CD8525E}"/>
              </a:ext>
            </a:extLst>
          </p:cNvPr>
          <p:cNvSpPr txBox="1"/>
          <p:nvPr/>
        </p:nvSpPr>
        <p:spPr>
          <a:xfrm>
            <a:off x="334963" y="697998"/>
            <a:ext cx="115220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Где можно применять: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Население - бесплатная самодиагностика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Психологи - инструмент для клиентов</a:t>
            </a:r>
          </a:p>
          <a:p>
            <a:r>
              <a:rPr lang="ru-RU" sz="2400" dirty="0">
                <a:latin typeface="Bahnschrift" panose="020B0502040204020203" pitchFamily="34" charset="0"/>
              </a:rPr>
              <a:t>Образовательные учреждения - профориентация</a:t>
            </a:r>
          </a:p>
          <a:p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b="1" dirty="0">
                <a:latin typeface="Bahnschrift" panose="020B0502040204020203" pitchFamily="34" charset="0"/>
              </a:rPr>
              <a:t>Личный вклад: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Анализ предметной области и аналогов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Проектирование архитектуры и БД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Реализация всех модулей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Создание интерфейса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Тестирование и отладка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11DC4F-9B23-B21E-5DDB-72B33A3F8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11</a:t>
            </a:fld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3F22174-E4FE-6541-6E03-5F44453C80FA}"/>
              </a:ext>
            </a:extLst>
          </p:cNvPr>
          <p:cNvSpPr/>
          <p:nvPr/>
        </p:nvSpPr>
        <p:spPr>
          <a:xfrm>
            <a:off x="651879" y="4972662"/>
            <a:ext cx="2929522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Анализ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DD1567C-855A-458D-B2C9-FF4A8AEE4430}"/>
              </a:ext>
            </a:extLst>
          </p:cNvPr>
          <p:cNvSpPr/>
          <p:nvPr/>
        </p:nvSpPr>
        <p:spPr>
          <a:xfrm>
            <a:off x="4024323" y="4972662"/>
            <a:ext cx="2929522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Проектирование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FDD0EAC-9B7A-366C-160A-AD5683700B18}"/>
              </a:ext>
            </a:extLst>
          </p:cNvPr>
          <p:cNvSpPr/>
          <p:nvPr/>
        </p:nvSpPr>
        <p:spPr>
          <a:xfrm>
            <a:off x="7396767" y="4972662"/>
            <a:ext cx="2929522" cy="1566250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Bahnschrift" panose="020B0502040204020203" pitchFamily="34" charset="0"/>
              </a:rPr>
              <a:t>Реализация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655C0AE-94E8-2ECB-69A8-EB949D60A0CB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3581401" y="5755787"/>
            <a:ext cx="442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0126CAC-CAA0-88BB-325D-9483CB87C41C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953845" y="5755787"/>
            <a:ext cx="442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556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3F98-31B8-FD48-420F-9D07E70F4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807E95E2-5204-E24E-57BD-98065C9F8A3C}"/>
              </a:ext>
            </a:extLst>
          </p:cNvPr>
          <p:cNvSpPr/>
          <p:nvPr/>
        </p:nvSpPr>
        <p:spPr>
          <a:xfrm>
            <a:off x="334963" y="560677"/>
            <a:ext cx="106984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B5F6C-6FA4-BA67-3BF4-FA10000B6716}"/>
              </a:ext>
            </a:extLst>
          </p:cNvPr>
          <p:cNvSpPr txBox="1"/>
          <p:nvPr/>
        </p:nvSpPr>
        <p:spPr>
          <a:xfrm>
            <a:off x="334963" y="191345"/>
            <a:ext cx="59647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Заключение и перспективы развития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5C11F-2D42-0483-693E-B4EA6E6B7E62}"/>
              </a:ext>
            </a:extLst>
          </p:cNvPr>
          <p:cNvSpPr txBox="1"/>
          <p:nvPr/>
        </p:nvSpPr>
        <p:spPr>
          <a:xfrm>
            <a:off x="334963" y="1063410"/>
            <a:ext cx="115220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dirty="0">
                <a:effectLst/>
                <a:latin typeface="Bahnschrift" panose="020B0502040204020203" pitchFamily="34" charset="0"/>
              </a:rPr>
              <a:t>Цель достигнута</a:t>
            </a:r>
            <a:r>
              <a:rPr lang="ru-RU" sz="2400" b="0" i="0" dirty="0">
                <a:effectLst/>
                <a:latin typeface="Bahnschrift" panose="020B0502040204020203" pitchFamily="34" charset="0"/>
              </a:rPr>
              <a:t> — разработана веб-платформа, объединяющая психологическое просвещение, самодиагностику с визуализацией и инструменты саморазвития.</a:t>
            </a:r>
            <a:endParaRPr lang="ru-RU" sz="2400" dirty="0">
              <a:latin typeface="Bahnschrift" panose="020B0502040204020203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1CB80F-20AD-60E3-8BB0-3AC855DDD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12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CE6F70-4E0F-23EF-FE9F-A14B4219E24B}"/>
              </a:ext>
            </a:extLst>
          </p:cNvPr>
          <p:cNvSpPr txBox="1"/>
          <p:nvPr/>
        </p:nvSpPr>
        <p:spPr>
          <a:xfrm>
            <a:off x="334963" y="2285938"/>
            <a:ext cx="10158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i="0" dirty="0">
                <a:effectLst/>
                <a:latin typeface="Bahnschrift" panose="020B0502040204020203" pitchFamily="34" charset="0"/>
              </a:rPr>
              <a:t>Все задачи решены:</a:t>
            </a:r>
            <a:endParaRPr lang="ru-RU" sz="2400" b="0" i="0" dirty="0">
              <a:effectLst/>
              <a:latin typeface="Bahnschrift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Проведён анализ предметной области и аналогов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Сформулированы 15 функциональных, 5 нефункциональных и 3 этических требования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Спроектирована архитектура и база данных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Проведено тестирование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BE439-EAEF-801E-87F0-558B3D7EEE4B}"/>
              </a:ext>
            </a:extLst>
          </p:cNvPr>
          <p:cNvSpPr txBox="1"/>
          <p:nvPr/>
        </p:nvSpPr>
        <p:spPr>
          <a:xfrm>
            <a:off x="334963" y="4604382"/>
            <a:ext cx="1038432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400" b="1" dirty="0">
                <a:effectLst/>
                <a:latin typeface="Bahnschrift" panose="020B0502040204020203" pitchFamily="34" charset="0"/>
              </a:rPr>
              <a:t>Перспективы развития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Мобильное приложение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Персонализированные рекомендации на основе машинного обучения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effectLst/>
                <a:latin typeface="Bahnschrift" panose="020B0502040204020203" pitchFamily="34" charset="0"/>
              </a:rPr>
              <a:t>Двухфакторная аутентификация</a:t>
            </a:r>
          </a:p>
          <a:p>
            <a:endParaRPr lang="ru-RU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994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FDE80A-E502-90BC-DB07-A7C0CA3781E9}"/>
              </a:ext>
            </a:extLst>
          </p:cNvPr>
          <p:cNvSpPr txBox="1"/>
          <p:nvPr/>
        </p:nvSpPr>
        <p:spPr>
          <a:xfrm>
            <a:off x="3048965" y="2979290"/>
            <a:ext cx="6094070" cy="442035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</a:rPr>
              <a:t>Спасибо за внимание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D67898-DE62-0CD7-4F0E-3EFE8409C636}"/>
              </a:ext>
            </a:extLst>
          </p:cNvPr>
          <p:cNvSpPr txBox="1"/>
          <p:nvPr/>
        </p:nvSpPr>
        <p:spPr>
          <a:xfrm>
            <a:off x="3048965" y="3440955"/>
            <a:ext cx="6094070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Готова ответить на вопросы комиссии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F1C7F-134F-4D75-8FD8-5084202113ED}"/>
              </a:ext>
            </a:extLst>
          </p:cNvPr>
          <p:cNvSpPr txBox="1"/>
          <p:nvPr/>
        </p:nvSpPr>
        <p:spPr>
          <a:xfrm>
            <a:off x="334962" y="4923287"/>
            <a:ext cx="11522075" cy="349702"/>
          </a:xfrm>
          <a:prstGeom prst="rect">
            <a:avLst/>
          </a:prstGeom>
          <a:noFill/>
        </p:spPr>
        <p:txBody>
          <a:bodyPr wrap="square" lIns="0" tIns="36000" rIns="0" bIns="36000" anchor="ctr" anchorCtr="0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Репозиторий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https://github.com/MonaZhiga/diplom</a:t>
            </a:r>
            <a:endParaRPr lang="ru-RU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80DA23C4-D1C4-8721-9980-3923074D5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2CC4F-E372-4903-AEE1-D93856D9C9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EC4602-A704-7074-6CF3-A0A0FA55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172" y="4658884"/>
            <a:ext cx="1880028" cy="188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587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Стандартная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" panose="0211000402020202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640</Words>
  <Application>Microsoft Office PowerPoint</Application>
  <PresentationFormat>Широкоэкранный</PresentationFormat>
  <Paragraphs>178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Bahnschrift</vt:lpstr>
      <vt:lpstr>Bahnschrift Light</vt:lpstr>
      <vt:lpstr>Bahnschrift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 Cheprasova</dc:creator>
  <cp:lastModifiedBy>MonaZhiga</cp:lastModifiedBy>
  <cp:revision>4</cp:revision>
  <dcterms:created xsi:type="dcterms:W3CDTF">2026-06-13T14:57:40Z</dcterms:created>
  <dcterms:modified xsi:type="dcterms:W3CDTF">2026-06-16T04:23:55Z</dcterms:modified>
</cp:coreProperties>
</file>